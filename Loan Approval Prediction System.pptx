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73" r:id="rId11"/>
    <p:sldId id="271" r:id="rId12"/>
    <p:sldId id="274" r:id="rId13"/>
    <p:sldId id="275" r:id="rId14"/>
    <p:sldId id="272" r:id="rId15"/>
    <p:sldId id="265" r:id="rId16"/>
    <p:sldId id="266" r:id="rId17"/>
    <p:sldId id="267" r:id="rId18"/>
    <p:sldId id="268" r:id="rId19"/>
    <p:sldId id="269" r:id="rId20"/>
    <p:sldId id="270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583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395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992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127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74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27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68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938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80C50CD-E178-4744-9B35-B2F624D6C5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238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58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56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442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" TargetMode="External"/><Relationship Id="rId2" Type="http://schemas.openxmlformats.org/officeDocument/2006/relationships/hyperlink" Target="https://scikit-learn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laude.ai/" TargetMode="External"/><Relationship Id="rId5" Type="http://schemas.openxmlformats.org/officeDocument/2006/relationships/hyperlink" Target="https://matplotlib.org/" TargetMode="External"/><Relationship Id="rId4" Type="http://schemas.openxmlformats.org/officeDocument/2006/relationships/hyperlink" Target="https://seaborn.pydata.org/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hand holding a pen and shading circles on a sheet">
            <a:extLst>
              <a:ext uri="{FF2B5EF4-FFF2-40B4-BE49-F238E27FC236}">
                <a16:creationId xmlns:a16="http://schemas.microsoft.com/office/drawing/2014/main" id="{32AF0A4C-05A6-916C-762C-3D36440184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73" b="2560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F5FBF9-F4EC-6217-B54F-17561AD1ED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1416818"/>
            <a:ext cx="8465356" cy="201218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5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</a:t>
            </a:r>
            <a:br>
              <a:rPr lang="en-IN" sz="5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0E4D6-AC73-5694-D5F9-03C9B6B7C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IN" sz="2400" dirty="0">
                <a:solidFill>
                  <a:srgbClr val="FFFFFF"/>
                </a:solidFill>
              </a:rPr>
              <a:t>DATA SCIENCE MINI PROJECT</a:t>
            </a:r>
          </a:p>
          <a:p>
            <a:endParaRPr lang="en-IN" sz="24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8A013-D42B-F4BC-0E57-8BDA95250BC5}"/>
              </a:ext>
            </a:extLst>
          </p:cNvPr>
          <p:cNvSpPr txBox="1"/>
          <p:nvPr/>
        </p:nvSpPr>
        <p:spPr>
          <a:xfrm>
            <a:off x="717755" y="4777428"/>
            <a:ext cx="3687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RAJUMENAN B - 422423104306</a:t>
            </a:r>
          </a:p>
        </p:txBody>
      </p:sp>
    </p:spTree>
    <p:extLst>
      <p:ext uri="{BB962C8B-B14F-4D97-AF65-F5344CB8AC3E}">
        <p14:creationId xmlns:p14="http://schemas.microsoft.com/office/powerpoint/2010/main" val="2729443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6931C5-F9B2-D51C-7196-8BF710D7B23F}"/>
              </a:ext>
            </a:extLst>
          </p:cNvPr>
          <p:cNvSpPr txBox="1"/>
          <p:nvPr/>
        </p:nvSpPr>
        <p:spPr>
          <a:xfrm>
            <a:off x="511277" y="285135"/>
            <a:ext cx="10972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071C9-D867-2F78-B645-F4997919E5A1}"/>
              </a:ext>
            </a:extLst>
          </p:cNvPr>
          <p:cNvSpPr txBox="1"/>
          <p:nvPr/>
        </p:nvSpPr>
        <p:spPr>
          <a:xfrm>
            <a:off x="879986" y="1023799"/>
            <a:ext cx="10235381" cy="4821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is a critical decision banks make for every applicant, traditionally done manually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review is slow, inconsistent across officers, and can introduce bias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 data-driven system to predict loan approval automatically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Domains covered: DS (Financial Analytics), ML (Approval Prediction), AI (Credit Evaluation)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15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AEC1E1-750E-B960-75A0-9EA8EC3BFD1C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CCFAA-4743-EF98-46F6-06D35B38AB0A}"/>
              </a:ext>
            </a:extLst>
          </p:cNvPr>
          <p:cNvSpPr txBox="1"/>
          <p:nvPr/>
        </p:nvSpPr>
        <p:spPr>
          <a:xfrm>
            <a:off x="924233" y="1326720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around 4,269 loan applications to understand and predict approval outcomes. Cleaned data, engineered financial ratios, and trained 3 ML models. CIBIL score found to be the dominant driver of approval (~79% importance). Best model (Decision Tree) achieved F1-score = 0.998, ROC-AUC = 0.999. Delivers a reusable model for fast, consistent, automated credit evaluation.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266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1BDC00-3433-59FE-5297-E8FA2B3FA476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/>
              <a:t>Project Objectives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3005E6-7DC1-02DB-DC5B-D084873869F5}"/>
              </a:ext>
            </a:extLst>
          </p:cNvPr>
          <p:cNvSpPr txBox="1"/>
          <p:nvPr/>
        </p:nvSpPr>
        <p:spPr>
          <a:xfrm>
            <a:off x="825910" y="1405378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prepare the raw loan applicant dataset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which applicant attributes drive approval decisions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 financially meaningful features beyond raw columns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and compare multiple ML classification models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select the best-performing model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findings into a usable credit-evaluation workflow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902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E6FA04-1211-8C7A-8315-44A8EBE5ACFE}"/>
              </a:ext>
            </a:extLst>
          </p:cNvPr>
          <p:cNvSpPr txBox="1"/>
          <p:nvPr/>
        </p:nvSpPr>
        <p:spPr>
          <a:xfrm>
            <a:off x="825910" y="144324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FFEEA-35C3-F5A0-F969-AD697BD8BDCB}"/>
              </a:ext>
            </a:extLst>
          </p:cNvPr>
          <p:cNvSpPr txBox="1"/>
          <p:nvPr/>
        </p:nvSpPr>
        <p:spPr>
          <a:xfrm>
            <a:off x="875071" y="913765"/>
            <a:ext cx="10019070" cy="5185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Language: Python 3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Jupyter Notebook / Google Colab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 pandas, numpy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matplotlib, seaborn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 scikit-learn (Logistic Regression, Decision Tree, Random Forest)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Model persistence: joblib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Reporting: Microsoft Word, PowerPoint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84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590132-7DCB-1B0D-5C1E-E385EDCC994E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EAF95-204B-DBB0-BAD3-19AC942B6089}"/>
              </a:ext>
            </a:extLst>
          </p:cNvPr>
          <p:cNvSpPr txBox="1"/>
          <p:nvPr/>
        </p:nvSpPr>
        <p:spPr>
          <a:xfrm>
            <a:off x="934065" y="1385713"/>
            <a:ext cx="10019070" cy="302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loan_approval_dataset.csv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4,269 records × 13 features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Structured, static snapshot data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loan_status (Approved / Rejected)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groups: Demographics, Financials, Credit Score, Assets</a:t>
            </a:r>
          </a:p>
        </p:txBody>
      </p:sp>
    </p:spTree>
    <p:extLst>
      <p:ext uri="{BB962C8B-B14F-4D97-AF65-F5344CB8AC3E}">
        <p14:creationId xmlns:p14="http://schemas.microsoft.com/office/powerpoint/2010/main" val="4184087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99980E-D74B-BF35-3505-A2892D2C45EE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F3B51-49B0-EEFD-0C4D-3FCF0DE5F85E}"/>
              </a:ext>
            </a:extLst>
          </p:cNvPr>
          <p:cNvSpPr txBox="1"/>
          <p:nvPr/>
        </p:nvSpPr>
        <p:spPr>
          <a:xfrm>
            <a:off x="934065" y="1228397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0 missing values across all records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Stripped whitespace from column names and categorical text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records with invalid negative asset values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Label-encoded categorical fields (education,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self_employed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loan_status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numeric features for Logistic Regression.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524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302B7F-781E-7D7D-04EC-DA26C6F7C47B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03382D-4FC3-EAA4-00D0-23C9481AB811}"/>
              </a:ext>
            </a:extLst>
          </p:cNvPr>
          <p:cNvSpPr txBox="1"/>
          <p:nvPr/>
        </p:nvSpPr>
        <p:spPr>
          <a:xfrm>
            <a:off x="934065" y="1425042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the distribution of loan approval classes for reliable model training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CIBIL score distribution across approval outcomes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Examined income vs. loan amount relationship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correlation between numeric features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approval rate by education and self-employment status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153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D8873-7479-1815-46CD-381A78481706}"/>
              </a:ext>
            </a:extLst>
          </p:cNvPr>
          <p:cNvSpPr txBox="1"/>
          <p:nvPr/>
        </p:nvSpPr>
        <p:spPr>
          <a:xfrm>
            <a:off x="322192" y="1452390"/>
            <a:ext cx="3498135" cy="1868760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cap="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Visualization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71C72-AEC4-3108-B905-EEA5910CEE25}"/>
              </a:ext>
            </a:extLst>
          </p:cNvPr>
          <p:cNvSpPr txBox="1"/>
          <p:nvPr/>
        </p:nvSpPr>
        <p:spPr>
          <a:xfrm>
            <a:off x="659302" y="3531204"/>
            <a:ext cx="2823919" cy="1610643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US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Loan status distribution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0" descr="/home/claude/loan_project/plots/01_class_balance.png">
            <a:extLst>
              <a:ext uri="{FF2B5EF4-FFF2-40B4-BE49-F238E27FC236}">
                <a16:creationId xmlns:a16="http://schemas.microsoft.com/office/drawing/2014/main" id="{F0CB1FCD-DF69-F7A8-220E-4950AE94B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43476" y="1116345"/>
            <a:ext cx="4832714" cy="38661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643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669046F-5838-4C7A-BBE8-A77F40FD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5E6CDB-92ED-43A1-9491-C46E2C8E9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BB966BC-DC49-4138-8DEF-B1CD13033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2237" y="482171"/>
            <a:ext cx="6104331" cy="5149101"/>
            <a:chOff x="632237" y="482171"/>
            <a:chExt cx="6104331" cy="5149101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D0BD06-EC5B-4F0E-A221-562BC2BA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237" y="482171"/>
              <a:ext cx="6104331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34200B3-EC47-4A5B-A640-7118BF6AD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5296" y="812507"/>
              <a:ext cx="5471355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3B9DAF8-7DB4-40CB-85F8-7E02F95C6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7042" y="984450"/>
            <a:ext cx="5145580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06AED2C-61BA-485C-9DD4-B23B6280F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8029" y="1847088"/>
            <a:ext cx="352036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 1" descr="/home/claude/loan_project/plots/02_cibil_distribution.png">
            <a:extLst>
              <a:ext uri="{FF2B5EF4-FFF2-40B4-BE49-F238E27FC236}">
                <a16:creationId xmlns:a16="http://schemas.microsoft.com/office/drawing/2014/main" id="{56B3BC22-3686-7672-1AE9-F3DD0633A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1223" y="1439038"/>
            <a:ext cx="4825148" cy="32207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DBA16D-8D1B-5EB1-F052-1DBB04241218}"/>
              </a:ext>
            </a:extLst>
          </p:cNvPr>
          <p:cNvSpPr txBox="1"/>
          <p:nvPr/>
        </p:nvSpPr>
        <p:spPr>
          <a:xfrm>
            <a:off x="7218029" y="2015732"/>
            <a:ext cx="3520368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KDE plot: CIBIL score by approval outcome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EFCF05C-6070-460B-8E60-12BE3EFD1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D731F1-726F-453E-9516-3058095DE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701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FA7AD0A-1871-4DF8-9235-F49D0513B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B04CFB-FAE5-47DD-9B3E-4E9BA7A8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E8D3B4-B98A-2E84-1955-229541DE8ABA}"/>
              </a:ext>
            </a:extLst>
          </p:cNvPr>
          <p:cNvSpPr txBox="1"/>
          <p:nvPr/>
        </p:nvSpPr>
        <p:spPr>
          <a:xfrm>
            <a:off x="381965" y="1474969"/>
            <a:ext cx="3101255" cy="1868760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25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cap="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Scatter plot: Income vs. loan amount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E68D41B-9286-479F-9AB7-678C8E348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9301" y="3528543"/>
            <a:ext cx="282391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8ACF89C-CFC3-4D68-B3C4-2BEFB7BBE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79389" y="482171"/>
            <a:ext cx="7560115" cy="5149101"/>
            <a:chOff x="3979389" y="482171"/>
            <a:chExt cx="7560115" cy="514910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B770B7D-3C5C-4682-8DF0-20783592F3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79389" y="482171"/>
              <a:ext cx="7560115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6893E11-7EC1-4EB6-A2A8-0B693F8FE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92448" y="812507"/>
              <a:ext cx="692827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22F7FD7-8884-4FD5-95AB-0B5C6033A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5487" y="977965"/>
            <a:ext cx="6615582" cy="4135339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 0" descr="/home/claude/loan_project/plots/03_income_vs_loan.png">
            <a:extLst>
              <a:ext uri="{FF2B5EF4-FFF2-40B4-BE49-F238E27FC236}">
                <a16:creationId xmlns:a16="http://schemas.microsoft.com/office/drawing/2014/main" id="{8659D87B-A86A-052D-ED8E-E8BD7EDD9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37808" y="1116345"/>
            <a:ext cx="4644050" cy="386617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6EFE474-4FE0-4E8F-8F09-5ED2C9E76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8B8C81-54DC-4AF5-B682-3A2C70A6B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969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 descr="/home/claude/loan_project/plots/04_correlation_heatmap.png">
            <a:extLst>
              <a:ext uri="{FF2B5EF4-FFF2-40B4-BE49-F238E27FC236}">
                <a16:creationId xmlns:a16="http://schemas.microsoft.com/office/drawing/2014/main" id="{800E50B0-F7D8-6CB6-6AD2-3A056226E9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99504" y="758711"/>
            <a:ext cx="7592992" cy="60992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1BBC23-D8D6-6AE2-EA30-465291B0E25F}"/>
              </a:ext>
            </a:extLst>
          </p:cNvPr>
          <p:cNvSpPr txBox="1"/>
          <p:nvPr/>
        </p:nvSpPr>
        <p:spPr>
          <a:xfrm>
            <a:off x="2110451" y="127322"/>
            <a:ext cx="79710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Heatmap: Feature correlation matrix</a:t>
            </a:r>
          </a:p>
          <a:p>
            <a:pPr algn="ctr"/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68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CD70C9-30C4-806E-0869-FA4C4204ACA4}"/>
              </a:ext>
            </a:extLst>
          </p:cNvPr>
          <p:cNvSpPr txBox="1"/>
          <p:nvPr/>
        </p:nvSpPr>
        <p:spPr>
          <a:xfrm>
            <a:off x="1061814" y="432699"/>
            <a:ext cx="8993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Approval rate by demographic group</a:t>
            </a:r>
          </a:p>
        </p:txBody>
      </p:sp>
      <p:pic>
        <p:nvPicPr>
          <p:cNvPr id="4" name="Image 0" descr="/home/claude/loan_project/plots/05_approval_rate_categorical.png">
            <a:extLst>
              <a:ext uri="{FF2B5EF4-FFF2-40B4-BE49-F238E27FC236}">
                <a16:creationId xmlns:a16="http://schemas.microsoft.com/office/drawing/2014/main" id="{8508B772-9E89-31A9-CB88-7354353FEC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1814" y="1417319"/>
            <a:ext cx="10068371" cy="452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3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EA869E1-F851-4A52-92F5-77E592B76A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083AD55-8296-44BD-8E14-DD2DDBC35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BF46B26-15FC-4C5A-94FA-AE9ED64B5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12F6065-5345-44BD-B66E-5487CCD7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EF77632-1A0C-4B9F-829B-226E68A78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DCFC27-6BCE-42B6-8372-070EA0768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E3239-5F5F-57E0-47DA-6B06570DA0B6}"/>
              </a:ext>
            </a:extLst>
          </p:cNvPr>
          <p:cNvSpPr txBox="1"/>
          <p:nvPr/>
        </p:nvSpPr>
        <p:spPr>
          <a:xfrm>
            <a:off x="1776424" y="4460798"/>
            <a:ext cx="8637073" cy="558063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cap="all">
                <a:latin typeface="+mj-lt"/>
                <a:ea typeface="+mj-ea"/>
                <a:cs typeface="+mj-cs"/>
              </a:rPr>
              <a:t>Confusion matrix &amp; ROC curve: Model performance visuals</a:t>
            </a:r>
          </a:p>
        </p:txBody>
      </p:sp>
      <p:pic>
        <p:nvPicPr>
          <p:cNvPr id="7" name="Image 1" descr="/home/claude/loan_project/plots/07_roc_curves.png">
            <a:extLst>
              <a:ext uri="{FF2B5EF4-FFF2-40B4-BE49-F238E27FC236}">
                <a16:creationId xmlns:a16="http://schemas.microsoft.com/office/drawing/2014/main" id="{0FB10539-51DC-E4E4-AB61-C3AEAC1C8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80935" y="401919"/>
            <a:ext cx="4710543" cy="3921527"/>
          </a:xfrm>
          <a:prstGeom prst="rect">
            <a:avLst/>
          </a:prstGeom>
        </p:spPr>
      </p:pic>
      <p:pic>
        <p:nvPicPr>
          <p:cNvPr id="5" name="Image 0" descr="/home/claude/loan_project/plots/06_confusion_matrix.png">
            <a:extLst>
              <a:ext uri="{FF2B5EF4-FFF2-40B4-BE49-F238E27FC236}">
                <a16:creationId xmlns:a16="http://schemas.microsoft.com/office/drawing/2014/main" id="{C1B31CEA-DFCA-A9CA-7B88-F94513215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71060" y="401918"/>
            <a:ext cx="4901900" cy="3921521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6A4B1E0-284C-4A01-8141-A24D2B8EE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76728" y="5027185"/>
            <a:ext cx="864301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82046CE-87C5-4670-A404-6AB453F5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224BAD7-5931-4CA6-BB58-0CBCFCFA6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3606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6012FD-74A8-4C91-B318-435CF2B71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0AF4057-33BA-422C-9241-6457AF1D3BAB}"/>
              </a:ext>
            </a:extLst>
          </p:cNvPr>
          <p:cNvSpPr txBox="1"/>
          <p:nvPr/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cap="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Results and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3A2650-DAE4-9D6C-935D-CD14D30C0D07}"/>
              </a:ext>
            </a:extLst>
          </p:cNvPr>
          <p:cNvSpPr txBox="1"/>
          <p:nvPr/>
        </p:nvSpPr>
        <p:spPr>
          <a:xfrm>
            <a:off x="1451579" y="2015734"/>
            <a:ext cx="4881071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CIBIL score is the strongest predictor (~79% feature importance)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 applicants average CIBIL ≈900; rejected average ≈650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self-employment have almost no effect on approval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is a “B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outperformed Logistic Regression — approval boundary is non-linear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Engineered asset-to-loan ratio added more predictive power than raw asset columns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60E63A-9369-87D5-98ED-6FBB331E6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639370"/>
              </p:ext>
            </p:extLst>
          </p:nvPr>
        </p:nvGraphicFramePr>
        <p:xfrm>
          <a:off x="6577867" y="2720323"/>
          <a:ext cx="4881071" cy="20414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5270">
                  <a:extLst>
                    <a:ext uri="{9D8B030D-6E8A-4147-A177-3AD203B41FA5}">
                      <a16:colId xmlns:a16="http://schemas.microsoft.com/office/drawing/2014/main" val="200071490"/>
                    </a:ext>
                  </a:extLst>
                </a:gridCol>
                <a:gridCol w="1378727">
                  <a:extLst>
                    <a:ext uri="{9D8B030D-6E8A-4147-A177-3AD203B41FA5}">
                      <a16:colId xmlns:a16="http://schemas.microsoft.com/office/drawing/2014/main" val="1731488175"/>
                    </a:ext>
                  </a:extLst>
                </a:gridCol>
                <a:gridCol w="1487074">
                  <a:extLst>
                    <a:ext uri="{9D8B030D-6E8A-4147-A177-3AD203B41FA5}">
                      <a16:colId xmlns:a16="http://schemas.microsoft.com/office/drawing/2014/main" val="233627037"/>
                    </a:ext>
                  </a:extLst>
                </a:gridCol>
              </a:tblGrid>
              <a:tr h="43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Model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F1-Score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ROC-AUC</a:t>
                      </a:r>
                    </a:p>
                  </a:txBody>
                  <a:tcPr marL="99099" marR="99099" marT="49549" marB="49549" anchor="ctr"/>
                </a:tc>
                <a:extLst>
                  <a:ext uri="{0D108BD9-81ED-4DB2-BD59-A6C34878D82A}">
                    <a16:rowId xmlns:a16="http://schemas.microsoft.com/office/drawing/2014/main" val="2792336831"/>
                  </a:ext>
                </a:extLst>
              </a:tr>
              <a:tr h="7333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Logistic Regression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0.886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0.975</a:t>
                      </a:r>
                    </a:p>
                  </a:txBody>
                  <a:tcPr marL="99099" marR="99099" marT="49549" marB="49549" anchor="ctr"/>
                </a:tc>
                <a:extLst>
                  <a:ext uri="{0D108BD9-81ED-4DB2-BD59-A6C34878D82A}">
                    <a16:rowId xmlns:a16="http://schemas.microsoft.com/office/drawing/2014/main" val="280829624"/>
                  </a:ext>
                </a:extLst>
              </a:tr>
              <a:tr h="43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Decision Tree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0.998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0.999</a:t>
                      </a:r>
                    </a:p>
                  </a:txBody>
                  <a:tcPr marL="99099" marR="99099" marT="49549" marB="49549" anchor="ctr"/>
                </a:tc>
                <a:extLst>
                  <a:ext uri="{0D108BD9-81ED-4DB2-BD59-A6C34878D82A}">
                    <a16:rowId xmlns:a16="http://schemas.microsoft.com/office/drawing/2014/main" val="135023300"/>
                  </a:ext>
                </a:extLst>
              </a:tr>
              <a:tr h="436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Random Forest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0.997</a:t>
                      </a:r>
                    </a:p>
                  </a:txBody>
                  <a:tcPr marL="99099" marR="99099" marT="49549" marB="495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1.000</a:t>
                      </a:r>
                    </a:p>
                  </a:txBody>
                  <a:tcPr marL="99099" marR="99099" marT="49549" marB="49549" anchor="ctr"/>
                </a:tc>
                <a:extLst>
                  <a:ext uri="{0D108BD9-81ED-4DB2-BD59-A6C34878D82A}">
                    <a16:rowId xmlns:a16="http://schemas.microsoft.com/office/drawing/2014/main" val="4003779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235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86BCE9-842C-6894-F440-6C3B827C5121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A111BC-884D-C625-8FF4-AAA528178CDF}"/>
              </a:ext>
            </a:extLst>
          </p:cNvPr>
          <p:cNvSpPr txBox="1"/>
          <p:nvPr/>
        </p:nvSpPr>
        <p:spPr>
          <a:xfrm>
            <a:off x="934065" y="1228397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loan decisions compared to manual review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Consistent, criteria-based evaluation reduces human bias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Scales easily to thousands of applications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decision drivers (credit score-based) support explainability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Reusable, deployable model for real-time credit evaluation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617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41DA27-4E3F-52F4-A44B-38F8D0F0D7CF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A5AE38-4B4E-1062-1EFE-097A883F1D7E}"/>
              </a:ext>
            </a:extLst>
          </p:cNvPr>
          <p:cNvSpPr txBox="1"/>
          <p:nvPr/>
        </p:nvSpPr>
        <p:spPr>
          <a:xfrm>
            <a:off x="934065" y="1228397"/>
            <a:ext cx="1001907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data quality issues (negative asset values)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Determining the right feature engineering to add real signal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model interpretability vs. predictive performance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Near-perfect scores raised concerns about dataset realism vs. real-world noise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the best model among close-performing candidates (Decision Tree vs. Random Forest)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7133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1E6E4D-6F24-BC23-A867-1BAAA5C9D2F7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154AF-AF93-76AF-EFFA-41054EB15633}"/>
              </a:ext>
            </a:extLst>
          </p:cNvPr>
          <p:cNvSpPr txBox="1"/>
          <p:nvPr/>
        </p:nvSpPr>
        <p:spPr>
          <a:xfrm>
            <a:off x="934065" y="1228397"/>
            <a:ext cx="1001907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model on real, noisier bank lending data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Add explainability (SHAP values) for regulatory transparency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Deploy as a live API / web form for real-time credit evaluation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Track loan repayment/default outcomes over time for long-term risk modeling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CRM/loan-management systems for automated routing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571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0E12D6-0300-4213-32DF-04D323F5A2BC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E7EF8-2460-8FE5-2288-EB8DF5981AA7}"/>
              </a:ext>
            </a:extLst>
          </p:cNvPr>
          <p:cNvSpPr txBox="1"/>
          <p:nvPr/>
        </p:nvSpPr>
        <p:spPr>
          <a:xfrm>
            <a:off x="934065" y="1228397"/>
            <a:ext cx="1001907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an end-to-end DS → ML → AI pipeline for loan approval prediction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CIBIL score as the dominant factor in lending decisions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high-accuracy predictions using a Decision Tree model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a practical foundation for automated, consistent credit evaluation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927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F6DFC3-7A7C-B8CB-B862-5A3C8B42459F}"/>
              </a:ext>
            </a:extLst>
          </p:cNvPr>
          <p:cNvSpPr txBox="1"/>
          <p:nvPr/>
        </p:nvSpPr>
        <p:spPr>
          <a:xfrm>
            <a:off x="825910" y="314632"/>
            <a:ext cx="104910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CC3AAB-E6FA-B27C-382D-A7FB3252B6A0}"/>
              </a:ext>
            </a:extLst>
          </p:cNvPr>
          <p:cNvSpPr txBox="1"/>
          <p:nvPr/>
        </p:nvSpPr>
        <p:spPr>
          <a:xfrm>
            <a:off x="934065" y="1228397"/>
            <a:ext cx="10019070" cy="4498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loan_approval_dataset.csv (project dataset)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 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https://scikit-learn.org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andas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https://pandas.pydata.org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documentation 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https://seaborn.pydata.org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documentation 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https://matplotlib.org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Anthropic Claude AI —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https://claude.ai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21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B172A0-5641-37CA-5B69-E88722A99128}"/>
              </a:ext>
            </a:extLst>
          </p:cNvPr>
          <p:cNvSpPr txBox="1"/>
          <p:nvPr/>
        </p:nvSpPr>
        <p:spPr>
          <a:xfrm>
            <a:off x="1922207" y="828288"/>
            <a:ext cx="862289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3800" dirty="0">
                <a:latin typeface="Algerian" panose="04020705040A02060702" pitchFamily="82" charset="0"/>
                <a:cs typeface="Times New Roman" panose="02020603050405020304" pitchFamily="18" charset="0"/>
              </a:rPr>
              <a:t>THANK </a:t>
            </a:r>
            <a:br>
              <a:rPr lang="en-IN" sz="13800" dirty="0">
                <a:latin typeface="Algerian" panose="04020705040A02060702" pitchFamily="82" charset="0"/>
                <a:cs typeface="Times New Roman" panose="02020603050405020304" pitchFamily="18" charset="0"/>
              </a:rPr>
            </a:br>
            <a:r>
              <a:rPr lang="en-IN" sz="13800" dirty="0">
                <a:latin typeface="Algerian" panose="04020705040A02060702" pitchFamily="82" charset="0"/>
                <a:cs typeface="Times New Roman" panose="02020603050405020304" pitchFamily="18" charset="0"/>
              </a:rPr>
              <a:t> YOU</a:t>
            </a:r>
          </a:p>
        </p:txBody>
      </p:sp>
    </p:spTree>
    <p:extLst>
      <p:ext uri="{BB962C8B-B14F-4D97-AF65-F5344CB8AC3E}">
        <p14:creationId xmlns:p14="http://schemas.microsoft.com/office/powerpoint/2010/main" val="200372805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354</TotalTime>
  <Words>746</Words>
  <Application>Microsoft Office PowerPoint</Application>
  <PresentationFormat>Widescreen</PresentationFormat>
  <Paragraphs>100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Algerian</vt:lpstr>
      <vt:lpstr>Arial</vt:lpstr>
      <vt:lpstr>Gill Sans MT</vt:lpstr>
      <vt:lpstr>Times New Roman</vt:lpstr>
      <vt:lpstr>Wingdings</vt:lpstr>
      <vt:lpstr>Gallery</vt:lpstr>
      <vt:lpstr>Loan Approval Prediction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Rajumenan</dc:creator>
  <cp:lastModifiedBy>S0876599</cp:lastModifiedBy>
  <cp:revision>9</cp:revision>
  <dcterms:created xsi:type="dcterms:W3CDTF">2026-07-08T14:09:38Z</dcterms:created>
  <dcterms:modified xsi:type="dcterms:W3CDTF">2026-07-23T08:03:42Z</dcterms:modified>
</cp:coreProperties>
</file>